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7" r:id="rId21"/>
    <p:sldId id="278" r:id="rId22"/>
    <p:sldId id="279" r:id="rId23"/>
    <p:sldId id="280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413" autoAdjust="0"/>
  </p:normalViewPr>
  <p:slideViewPr>
    <p:cSldViewPr snapToGrid="0">
      <p:cViewPr varScale="1">
        <p:scale>
          <a:sx n="77" d="100"/>
          <a:sy n="77" d="100"/>
        </p:scale>
        <p:origin x="1618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a08e6a13b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3a08e6a13b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3a08e6a13b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3a08e6a13b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9e7e3eacb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9e7e3eacb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39d742bd550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39d742bd550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39e8de6881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39e8de6881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39e8de6881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39e8de6881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3a08e6a13ba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3a08e6a13ba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plus compatible avec le script et plus simple à mettre en place.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39e8de6881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39e8de6881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 partage d’information et de fichiers entre nos deux machines utilise SCP. 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C’est une commande qui utilise SSH avec une couche de sécurité en plus lors de l’envoie.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9e8de6881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39e8de6881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39e8de6881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39e8de6881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Nous avons choisi Nginx car nous avions besoin d’un site pouvant être héberger simplement, avec une configurabilité fine pour la souveraineté de notre projet et qui puisse utiliser un reverse-proxy.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39e7e3eacb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39e7e3eacb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Sert à lancer l'environnement NodeJS au démarrage des machines virtuels, garder l'application toujours en ligne, redémarre automatiquement l'application si elle plante ou si le serveur redémarre, faciliter la gestion et le monitoring.</a:t>
            </a:r>
            <a:endParaRPr sz="1400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39d742bd550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39d742bd550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3a0d98f8ab2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3a0d98f8ab2_2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Problèmes de connexion et de firewall</a:t>
            </a:r>
            <a:r>
              <a:rPr lang="en" dirty="0">
                <a:solidFill>
                  <a:schemeClr val="dk1"/>
                </a:solidFill>
              </a:rPr>
              <a:t> :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Pendant le projet, nous avons été bloqués plusieurs fois à cause du réseau de l’école. Certaines connexions ou transferts étaient filtrés par le firewall, ce qui empêchait nos machines de communiquer correctement. Cela nous a fait perdre du temps, car il était parfois difficile d’identifier si le problème venait de notre configuration ou du réseau.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Création et automatisation du script SCP</a:t>
            </a:r>
            <a:r>
              <a:rPr lang="en" dirty="0">
                <a:solidFill>
                  <a:schemeClr val="dk1"/>
                </a:solidFill>
              </a:rPr>
              <a:t> :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La mise en place du script </a:t>
            </a:r>
            <a:r>
              <a:rPr lang="en" b="1" dirty="0">
                <a:solidFill>
                  <a:schemeClr val="dk1"/>
                </a:solidFill>
              </a:rPr>
              <a:t>SCP</a:t>
            </a:r>
            <a:r>
              <a:rPr lang="en" dirty="0">
                <a:solidFill>
                  <a:schemeClr val="dk1"/>
                </a:solidFill>
              </a:rPr>
              <a:t> pour le transfert automatique des fichiers entre les machines n’a pas été simple. Nous avons rencontré des difficultés à gérer les permissions, les chemins d’accès et l’exécution automatique du script. Après plusieurs tests et ajustements, nous avons réussi à stabiliser le processus.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39d742bd550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g39d742bd550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3a2a2b63f3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3a2a2b63f3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3a2a2b63f3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3a2a2b63f3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- Input :</a:t>
            </a:r>
            <a:r>
              <a:rPr lang="en" sz="14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--hosts / --inventory / --cidr</a:t>
            </a:r>
            <a:endParaRPr sz="14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- Traitement :</a:t>
            </a:r>
            <a:r>
              <a:rPr lang="en" sz="14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python scanner.py (nmap optionnel, fallback TCP)</a:t>
            </a:r>
            <a:endParaRPr sz="14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- Output :</a:t>
            </a:r>
            <a:r>
              <a:rPr lang="en" sz="14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scripts/reports/report_YYYYMMDDT*.json → dashboard / Nester</a:t>
            </a:r>
            <a:endParaRPr sz="14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39d742bd550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39d742bd550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3a08e6a13b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3a08e6a13b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A1) -&gt; Injection 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A2) -&gt; Authentification et gestion des sessions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A3) -&gt; Exposition de données sensibles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A4) -&gt; Contrôle d'accès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A5) -&gt; Sécurité de la configuration 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A6) -&gt; Cross-Site Scripting (XSS)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A7) -&gt; Contrôle de la sécurité des API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A8) -&gt; Protection contre les attaques par déni de service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A9) -&gt; Logging et surveillance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A10) -&gt; Falsification de requête côté serveur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3a08e6a13b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3a08e6a13b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A1) -&gt; Injection 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A2) -&gt; Authentification et gestion des sessions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A3) -&gt; Exposition de données sensibles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A4) -&gt; Contrôle d'accès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A5) -&gt; Sécurité de la configuration 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A6) -&gt; Cross-Site Scripting (XSS)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A7) -&gt; Contrôle de la sécurité des API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A8) -&gt; Protection contre les attaques par déni de service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A9) -&gt; Logging et surveillance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(OWASP A10) -&gt; Falsification de requête côté serveur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L'en-tête HTTP Content-Security-Policy (CSP) est une </a:t>
            </a:r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mesure de sécurité qui permet de contrôler les ressources que le navigateur est autorisé à charger pour une page donnée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(pour se protéger contre les attaques de type cross-site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scripting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(XSS) et les injections de données)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24ef22aa1ac_0_1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24ef22aa1ac_0_1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1" name="Google Shape;11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2" name="Google Shape;12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" name="Google Shape;13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" name="Google Shape;14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" name="Google Shape;31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" name="Google Shape;34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5" name="Google Shape;35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36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" name="Google Shape;38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" name="Google Shape;46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47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8" name="Google Shape;4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" name="Google Shape;51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2" name="Google Shape;5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" name="Google Shape;55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8" name="Google Shape;58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9" name="Google Shape;59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2" name="Google Shape;62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3" name="Google Shape;63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4" name="Google Shape;64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70" name="Google Shape;70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2" name="Google Shape;72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7" name="Google Shape;77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8" name="Google Shape;78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9" name="Google Shape;79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5" name="Google Shape;85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7" name="Google Shape;87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8" name="Google Shape;88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9" name="Google Shape;89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" name="Google Shape;94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5" name="Google Shape;95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9" name="Google Shape;99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0" name="Google Shape;100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1" name="Google Shape;101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2" name="Google Shape;102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" name="Google Shape;104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5" name="Google Shape;105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" name="Google Shape;107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8" name="Google Shape;108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9" name="Google Shape;109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0" name="Google Shape;110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6" name="Google Shape;116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8" name="Google Shape;118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9" name="Google Shape;119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0" name="Google Shape;120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6" name="Google Shape;126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" name="Google Shape;127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8" name="Google Shape;128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9" name="Google Shape;129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0" name="Google Shape;130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6" name="Google Shape;136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5" name="Google Shape;145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6" name="Google Shape;146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" name="Google Shape;147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8" name="Google Shape;148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" name="Google Shape;150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" name="Google Shape;151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2" name="Google Shape;152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3" name="Google Shape;153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4" name="Google Shape;154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5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6" name="Google Shape;156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7" name="Google Shape;157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8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" name="Google Shape;159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60" name="Google Shape;160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161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2" name="Google Shape;162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3" name="Google Shape;163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6" name="Google Shape;166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0" name="Google Shape;170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" name="Google Shape;176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191919"/>
                </a:solidFill>
              </a:defRPr>
            </a:lvl1pPr>
            <a:lvl2pPr lvl="1">
              <a:buNone/>
              <a:defRPr>
                <a:solidFill>
                  <a:srgbClr val="191919"/>
                </a:solidFill>
              </a:defRPr>
            </a:lvl2pPr>
            <a:lvl3pPr lvl="2">
              <a:buNone/>
              <a:defRPr>
                <a:solidFill>
                  <a:srgbClr val="191919"/>
                </a:solidFill>
              </a:defRPr>
            </a:lvl3pPr>
            <a:lvl4pPr lvl="3">
              <a:buNone/>
              <a:defRPr>
                <a:solidFill>
                  <a:srgbClr val="191919"/>
                </a:solidFill>
              </a:defRPr>
            </a:lvl4pPr>
            <a:lvl5pPr lvl="4">
              <a:buNone/>
              <a:defRPr>
                <a:solidFill>
                  <a:srgbClr val="191919"/>
                </a:solidFill>
              </a:defRPr>
            </a:lvl5pPr>
            <a:lvl6pPr lvl="5">
              <a:buNone/>
              <a:defRPr>
                <a:solidFill>
                  <a:srgbClr val="191919"/>
                </a:solidFill>
              </a:defRPr>
            </a:lvl6pPr>
            <a:lvl7pPr lvl="6">
              <a:buNone/>
              <a:defRPr>
                <a:solidFill>
                  <a:srgbClr val="191919"/>
                </a:solidFill>
              </a:defRPr>
            </a:lvl7pPr>
            <a:lvl8pPr lvl="7">
              <a:buNone/>
              <a:defRPr>
                <a:solidFill>
                  <a:srgbClr val="191919"/>
                </a:solidFill>
              </a:defRPr>
            </a:lvl8pPr>
            <a:lvl9pPr lvl="8">
              <a:buNone/>
              <a:defRPr>
                <a:solidFill>
                  <a:srgbClr val="191919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2" name="Google Shape;182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3" name="Google Shape;183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4" name="Google Shape;184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" name="Google Shape;185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9" name="Google Shape;189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90" name="Google Shape;190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91" name="Google Shape;191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92" name="Google Shape;192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5" name="Google Shape;195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7" name="Google Shape;197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" name="Google Shape;198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9" name="Google Shape;199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00" name="Google Shape;200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01" name="Google Shape;201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02" name="Google Shape;202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5" name="Google Shape;205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6" name="Google Shape;206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7" name="Google Shape;207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9" name="Google Shape;209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1" name="Google Shape;211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2" name="Google Shape;212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3" name="Google Shape;213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4" name="Google Shape;214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5" name="Google Shape;215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6" name="Google Shape;216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7" name="Google Shape;217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0" name="Google Shape;220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1" name="Google Shape;221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2" name="Google Shape;222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3" name="Google Shape;223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4" name="Google Shape;224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5" name="Google Shape;225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6" name="Google Shape;226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7" name="Google Shape;227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0" name="Google Shape;230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1" name="Google Shape;231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2" name="Google Shape;232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3" name="Google Shape;233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4" name="Google Shape;234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5" name="Google Shape;235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7" name="Google Shape;237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8" name="Google Shape;238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9" name="Google Shape;239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1" name="Google Shape;241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3" name="Google Shape;243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4" name="Google Shape;244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5" name="Google Shape;245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6" name="Google Shape;246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7" name="Google Shape;247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8" name="Google Shape;248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0" name="Google Shape;250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51" name="Google Shape;251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52" name="Google Shape;252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4" name="Google Shape;25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7" name="Google Shape;257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8" name="Google Shape;258;p6"/>
            <p:cNvPicPr preferRelativeResize="0"/>
            <p:nvPr/>
          </p:nvPicPr>
          <p:blipFill rotWithShape="1">
            <a:blip r:embed="rId2">
              <a:alphaModFix/>
            </a:blip>
            <a:srcRect t="17657" b="17663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9" name="Google Shape;25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60" name="Google Shape;260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61" name="Google Shape;261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62" name="Google Shape;262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" name="Google Shape;264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5" name="Google Shape;26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6" name="Google Shape;26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67" name="Google Shape;26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73" name="Google Shape;27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5" name="Google Shape;275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9" name="Google Shape;279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80" name="Google Shape;28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1" name="Google Shape;28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82" name="Google Shape;28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4" name="Google Shape;28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5" name="Google Shape;28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6" name="Google Shape;28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7" name="Google Shape;28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88" name="Google Shape;28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90" name="Google Shape;29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91" name="Google Shape;29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92" name="Google Shape;29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4" name="Google Shape;29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5" name="Google Shape;29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98" name="Google Shape;29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9" name="Google Shape;299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300" name="Google Shape;300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301" name="Google Shape;301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3" name="Google Shape;303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4" name="Google Shape;304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5" name="Google Shape;305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06" name="Google Shape;306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12" name="Google Shape;312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" name="Google Shape;313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4" name="Google Shape;314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8" name="Google Shape;318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9" name="Google Shape;319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0" name="Google Shape;320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1" name="Google Shape;321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3" name="Google Shape;323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4" name="Google Shape;324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5" name="Google Shape;325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6" name="Google Shape;326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27" name="Google Shape;327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9" name="Google Shape;329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0" name="Google Shape;330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31" name="Google Shape;331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3" name="Google Shape;333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4" name="Google Shape;334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5" name="Google Shape;335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6" name="Google Shape;336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37" name="Google Shape;337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0" name="Google Shape;340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1" name="Google Shape;341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2" name="Google Shape;34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5" name="Google Shape;34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6" name="Google Shape;346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7" name="Google Shape;347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50" name="Google Shape;350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2" name="Google Shape;352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53" name="Google Shape;353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4" name="Google Shape;354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5" name="Google Shape;355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6" name="Google Shape;356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7" name="Google Shape;357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3" name="Google Shape;363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64" name="Google Shape;364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6" name="Google Shape;366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7" name="Google Shape;367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69" name="Google Shape;36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72" name="Google Shape;372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73" name="Google Shape;373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74" name="Google Shape;374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6" name="Google Shape;376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8" name="Google Shape;378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9" name="Google Shape;379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1" name="Google Shape;381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9"/>
          <p:cNvSpPr txBox="1">
            <a:spLocks noGrp="1"/>
          </p:cNvSpPr>
          <p:nvPr>
            <p:ph type="subTitle" idx="1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85" name="Google Shape;385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386" name="Google Shape;386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7" name="Google Shape;387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8" name="Google Shape;388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9" name="Google Shape;389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0" name="Google Shape;390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91" name="Google Shape;391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" name="Google Shape;393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94" name="Google Shape;39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" name="Google Shape;396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7" name="Google Shape;39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9" name="Google Shape;399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2" name="Google Shape;402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403" name="Google Shape;40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5" name="Google Shape;405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6" name="Google Shape;406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7" name="Google Shape;407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15" name="Google Shape;415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16" name="Google Shape;416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7" name="Google Shape;417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8" name="Google Shape;418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22" name="Google Shape;422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5" name="Google Shape;425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7" name="Google Shape;427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8" name="Google Shape;428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9" name="Google Shape;429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0" name="Google Shape;430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" name="Google Shape;431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38" name="Google Shape;438;p11"/>
          <p:cNvSpPr txBox="1">
            <a:spLocks noGrp="1"/>
          </p:cNvSpPr>
          <p:nvPr>
            <p:ph type="subTitle" idx="1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39" name="Google Shape;439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40" name="Google Shape;440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41" name="Google Shape;441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3" name="Google Shape;443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4" name="Google Shape;444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1" name="Google Shape;451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52" name="Google Shape;452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454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9" name="Google Shape;459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60" name="Google Shape;460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2" name="Google Shape;462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63" name="Google Shape;463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64" name="Google Shape;464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65" name="Google Shape;465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1" name="Google Shape;471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2" name="Google Shape;472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3" name="Google Shape;473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9" name="Google Shape;479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0" name="Google Shape;480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1" name="Google Shape;481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486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7" name="Google Shape;487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8" name="Google Shape;488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9" name="Google Shape;489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90" name="Google Shape;490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491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2" name="Google Shape;492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95" name="Google Shape;495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96" name="Google Shape;496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97" name="Google Shape;497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98" name="Google Shape;498;p11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9" name="Google Shape;499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500" name="Google Shape;500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02" name="Google Shape;502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12" name="Google Shape;512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13" name="Google Shape;513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14" name="Google Shape;514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15" name="Google Shape;515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16" name="Google Shape;516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17" name="Google Shape;517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18" name="Google Shape;518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19" name="Google Shape;519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20" name="Google Shape;520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1" name="Google Shape;521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22" name="Google Shape;522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9" name="Google Shape;529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30" name="Google Shape;530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1" name="Google Shape;531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2" name="Google Shape;532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4" name="Google Shape;534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35" name="Google Shape;535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6" name="Google Shape;536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7" name="Google Shape;537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" name="Google Shape;538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9" name="Google Shape;539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40" name="Google Shape;540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41" name="Google Shape;541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42" name="Google Shape;542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" name="Google Shape;543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44" name="Google Shape;544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45" name="Google Shape;545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46" name="Google Shape;546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9" name="Google Shape;549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52" name="Google Shape;552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3" name="Google Shape;553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4" name="Google Shape;554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4"/>
          <p:cNvSpPr txBox="1">
            <a:spLocks noGrp="1"/>
          </p:cNvSpPr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8" name="Google Shape;558;p14"/>
          <p:cNvSpPr txBox="1">
            <a:spLocks noGrp="1"/>
          </p:cNvSpPr>
          <p:nvPr>
            <p:ph type="subTitle" idx="1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9" name="Google Shape;55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2" name="Google Shape;562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63" name="Google Shape;563;p1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565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66" name="Google Shape;566;p15"/>
            <p:cNvSpPr/>
            <p:nvPr/>
          </p:nvSpPr>
          <p:spPr>
            <a:xfrm rot="8100000" flipH="1">
              <a:off x="3778999" y="-2106462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68" name="Google Shape;568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76" name="Google Shape;576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3" name="Google Shape;583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5"/>
            <p:cNvSpPr/>
            <p:nvPr/>
          </p:nvSpPr>
          <p:spPr>
            <a:xfrm rot="-2700000" flipH="1">
              <a:off x="3192849" y="-2898537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7" name="Google Shape;587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88" name="Google Shape;588;p15"/>
            <p:cNvGrpSpPr/>
            <p:nvPr/>
          </p:nvGrpSpPr>
          <p:grpSpPr>
            <a:xfrm rot="10800000" flipH="1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89" name="Google Shape;589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90" name="Google Shape;590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1" name="Google Shape;591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2" name="Google Shape;592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3" name="Google Shape;593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6" name="Google Shape;596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7" name="Google Shape;597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8" name="Google Shape;598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9" name="Google Shape;599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0" name="Google Shape;600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1" name="Google Shape;601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04" name="Google Shape;604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5" name="Google Shape;605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6" name="Google Shape;606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7" name="Google Shape;607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8" name="Google Shape;60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0" name="Google Shape;610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1" name="Google Shape;611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12" name="Google Shape;612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3" name="Google Shape;613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14" name="Google Shape;614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15" name="Google Shape;61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6" name="Google Shape;616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7" name="Google Shape;617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8" name="Google Shape;618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9" name="Google Shape;61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20" name="Google Shape;620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21" name="Google Shape;621;p15"/>
            <p:cNvGrpSpPr/>
            <p:nvPr/>
          </p:nvGrpSpPr>
          <p:grpSpPr>
            <a:xfrm rot="-3320950" flipH="1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22" name="Google Shape;622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23" name="Google Shape;623;p15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4" name="Google Shape;624;p15"/>
            <p:cNvSpPr/>
            <p:nvPr/>
          </p:nvSpPr>
          <p:spPr>
            <a:xfrm rot="-2700000" flipH="1">
              <a:off x="249333" y="3270782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5" name="Google Shape;625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26" name="Google Shape;626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28" name="Google Shape;62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32" name="Google Shape;632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33" name="Google Shape;633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6" name="Google Shape;636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37" name="Google Shape;637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8" name="Google Shape;638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9" name="Google Shape;639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41" name="Google Shape;641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3" name="Google Shape;643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44" name="Google Shape;644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45" name="Google Shape;645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46" name="Google Shape;646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47" name="Google Shape;647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48" name="Google Shape;648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50" name="Google Shape;650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51" name="Google Shape;651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3" name="Google Shape;653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54" name="Google Shape;654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6" name="Google Shape;656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57" name="Google Shape;657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8" name="Google Shape;658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65" name="Google Shape;665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66" name="Google Shape;666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3" name="Google Shape;673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74" name="Google Shape;67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81" name="Google Shape;681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82" name="Google Shape;682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83" name="Google Shape;683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84" name="Google Shape;684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85" name="Google Shape;685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88" name="Google Shape;688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89" name="Google Shape;689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90" name="Google Shape;690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1" name="Google Shape;691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92" name="Google Shape;692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9" name="Google Shape;699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700" name="Google Shape;700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7" name="Google Shape;707;p17"/>
              <p:cNvSpPr/>
              <p:nvPr/>
            </p:nvSpPr>
            <p:spPr>
              <a:xfrm rot="2700000" flipH="1">
                <a:off x="-1073899" y="4736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8" name="Google Shape;708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709" name="Google Shape;709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1" name="Google Shape;711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712" name="Google Shape;712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4" name="Google Shape;714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15" name="Google Shape;715;p1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16" name="Google Shape;716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17" name="Google Shape;717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18" name="Google Shape;718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9" name="Google Shape;719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20" name="Google Shape;720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2" name="Google Shape;722;p17"/>
              <p:cNvGrpSpPr/>
              <p:nvPr/>
            </p:nvGrpSpPr>
            <p:grpSpPr>
              <a:xfrm rot="-2700000" flipH="1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23" name="Google Shape;723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4" name="Google Shape;724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726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" name="Google Shape;729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30" name="Google Shape;730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31" name="Google Shape;731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32" name="Google Shape;732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34" name="Google Shape;73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0_1_1_1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6" name="Google Shape;736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37" name="Google Shape;737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8" name="Google Shape;738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39" name="Google Shape;739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40" name="Google Shape;740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42" name="Google Shape;742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43" name="Google Shape;743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" name="Google Shape;744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45" name="Google Shape;74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46" name="Google Shape;746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47" name="Google Shape;747;p18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8" name="Google Shape;748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0" name="Google Shape;750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51" name="Google Shape;75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3" name="Google Shape;753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54" name="Google Shape;754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6" name="Google Shape;756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57" name="Google Shape;757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9" name="Google Shape;759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60" name="Google Shape;760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61" name="Google Shape;761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64" name="Google Shape;764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18"/>
            <p:cNvGrpSpPr/>
            <p:nvPr/>
          </p:nvGrpSpPr>
          <p:grpSpPr>
            <a:xfrm rot="10800000" flipH="1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68" name="Google Shape;768;p18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70" name="Google Shape;770;p18"/>
            <p:cNvSpPr/>
            <p:nvPr/>
          </p:nvSpPr>
          <p:spPr>
            <a:xfrm rot="5400000" flipH="1">
              <a:off x="6551329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1" name="Google Shape;771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72" name="Google Shape;772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74" name="Google Shape;774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75" name="Google Shape;77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9" name="Google Shape;779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80" name="Google Shape;780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81" name="Google Shape;781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" name="Google Shape;783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84" name="Google Shape;784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8" name="Google Shape;788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89" name="Google Shape;789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90" name="Google Shape;790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93" name="Google Shape;793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6" name="Google Shape;796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97" name="Google Shape;797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9" name="Google Shape;799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800" name="Google Shape;800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7" name="Google Shape;807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808" name="Google Shape;808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15" name="Google Shape;815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p20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19" name="Google Shape;819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20" name="Google Shape;820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21" name="Google Shape;821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22" name="Google Shape;822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9" name="Google Shape;829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30" name="Google Shape;830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1" name="Google Shape;831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32" name="Google Shape;832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3" name="Google Shape;833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34" name="Google Shape;834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35" name="Google Shape;835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6" name="Google Shape;836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37" name="Google Shape;837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38" name="Google Shape;838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9" name="Google Shape;839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40" name="Google Shape;840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1" name="Google Shape;841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42" name="Google Shape;842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4" name="Google Shape;844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45" name="Google Shape;845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7" name="Google Shape;847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48" name="Google Shape;848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2" name="Google Shape;852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53" name="Google Shape;853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6" name="Google Shape;856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57" name="Google Shape;857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60" name="Google Shape;860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3" name="Google Shape;863;p21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864" name="Google Shape;864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65" name="Google Shape;865;p21"/>
            <p:cNvSpPr/>
            <p:nvPr/>
          </p:nvSpPr>
          <p:spPr>
            <a:xfrm rot="-8100000" flipH="1">
              <a:off x="7249845" y="-719557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8355611" y="-292048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8608100" y="70376"/>
              <a:ext cx="687411" cy="2086997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8" name="Google Shape;868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69" name="Google Shape;869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1" name="Google Shape;871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72" name="Google Shape;872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4" name="Google Shape;874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75" name="Google Shape;875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77" name="Google Shape;877;p2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8" name="Google Shape;878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79" name="Google Shape;879;p2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80" name="Google Shape;880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81" name="Google Shape;881;p21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21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83" name="Google Shape;883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84" name="Google Shape;884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6" name="Google Shape;886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87" name="Google Shape;887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8" name="Google Shape;888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9" name="Google Shape;889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90" name="Google Shape;890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1" name="Google Shape;891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92" name="Google Shape;892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93" name="Google Shape;893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4" name="Google Shape;894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895" name="Google Shape;895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7" name="Google Shape;89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98" name="Google Shape;898;p22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99" name="Google Shape;89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00" name="Google Shape;90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01" name="Google Shape;90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2" name="Google Shape;90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03" name="Google Shape;90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04" name="Google Shape;90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5" name="Google Shape;90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6" name="Google Shape;90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918" name="Google Shape;91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19" name="Google Shape;91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20" name="Google Shape;92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21" name="Google Shape;92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22" name="Google Shape;92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23" name="Google Shape;92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24" name="Google Shape;92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25" name="Google Shape;92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26" name="Google Shape;92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27" name="Google Shape;92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28" name="Google Shape;92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29" name="Google Shape;92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30" name="Google Shape;93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31" name="Google Shape;93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32" name="Google Shape;93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33" name="Google Shape;93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34" name="Google Shape;93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35" name="Google Shape;93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36" name="Google Shape;93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37" name="Google Shape;93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38" name="Google Shape;93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9" name="Google Shape;93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40" name="Google Shape;94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41" name="Google Shape;94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3" name="Google Shape;94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4" name="Google Shape;944;p22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45" name="Google Shape;945;p22"/>
          <p:cNvSpPr txBox="1">
            <a:spLocks noGrp="1"/>
          </p:cNvSpPr>
          <p:nvPr>
            <p:ph type="body" idx="2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946" name="Google Shape;94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47" name="Google Shape;94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48" name="Google Shape;94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0" name="Google Shape;95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51" name="Google Shape;95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4" name="Google Shape;95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55" name="Google Shape;95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6" name="Google Shape;95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57" name="Google Shape;95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2" name="Google Shape;96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63" name="Google Shape;96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4" name="Google Shape;96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65" name="Google Shape;96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66" name="Google Shape;96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8" name="Google Shape;96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69" name="Google Shape;96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1" name="Google Shape;97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72" name="Google Shape;972;p22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10800000" flipH="1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3" name="Google Shape;97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74" name="Google Shape;97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75" name="Google Shape;97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76" name="Google Shape;97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77" name="Google Shape;97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8" name="Google Shape;97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9" name="Google Shape;97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0" name="Google Shape;98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1" name="Google Shape;98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82" name="Google Shape;98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3" name="Google Shape;98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84" name="Google Shape;98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85" name="Google Shape;98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86" name="Google Shape;98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87" name="Google Shape;98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8" name="Google Shape;98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9" name="Google Shape;98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0" name="Google Shape;99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1" name="Google Shape;99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92" name="Google Shape;99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93" name="Google Shape;99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191919"/>
                </a:solidFill>
              </a:defRPr>
            </a:lvl1pPr>
            <a:lvl2pPr lvl="1">
              <a:buNone/>
              <a:defRPr>
                <a:solidFill>
                  <a:srgbClr val="191919"/>
                </a:solidFill>
              </a:defRPr>
            </a:lvl2pPr>
            <a:lvl3pPr lvl="2">
              <a:buNone/>
              <a:defRPr>
                <a:solidFill>
                  <a:srgbClr val="191919"/>
                </a:solidFill>
              </a:defRPr>
            </a:lvl3pPr>
            <a:lvl4pPr lvl="3">
              <a:buNone/>
              <a:defRPr>
                <a:solidFill>
                  <a:srgbClr val="191919"/>
                </a:solidFill>
              </a:defRPr>
            </a:lvl4pPr>
            <a:lvl5pPr lvl="4">
              <a:buNone/>
              <a:defRPr>
                <a:solidFill>
                  <a:srgbClr val="191919"/>
                </a:solidFill>
              </a:defRPr>
            </a:lvl5pPr>
            <a:lvl6pPr lvl="5">
              <a:buNone/>
              <a:defRPr>
                <a:solidFill>
                  <a:srgbClr val="191919"/>
                </a:solidFill>
              </a:defRPr>
            </a:lvl6pPr>
            <a:lvl7pPr lvl="6">
              <a:buNone/>
              <a:defRPr>
                <a:solidFill>
                  <a:srgbClr val="191919"/>
                </a:solidFill>
              </a:defRPr>
            </a:lvl7pPr>
            <a:lvl8pPr lvl="7">
              <a:buNone/>
              <a:defRPr>
                <a:solidFill>
                  <a:srgbClr val="191919"/>
                </a:solidFill>
              </a:defRPr>
            </a:lvl8pPr>
            <a:lvl9pPr lvl="8">
              <a:buNone/>
              <a:defRPr>
                <a:solidFill>
                  <a:srgbClr val="191919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6" name="Google Shape;996;p23"/>
          <p:cNvSpPr txBox="1">
            <a:spLocks noGrp="1"/>
          </p:cNvSpPr>
          <p:nvPr>
            <p:ph type="subTitle" idx="1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97" name="Google Shape;997;p23"/>
          <p:cNvSpPr txBox="1">
            <a:spLocks noGrp="1"/>
          </p:cNvSpPr>
          <p:nvPr>
            <p:ph type="subTitle" idx="2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98" name="Google Shape;998;p23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99" name="Google Shape;999;p23"/>
          <p:cNvSpPr txBox="1">
            <a:spLocks noGrp="1"/>
          </p:cNvSpPr>
          <p:nvPr>
            <p:ph type="subTitle" idx="4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00" name="Google Shape;1000;p23"/>
          <p:cNvGrpSpPr/>
          <p:nvPr/>
        </p:nvGrpSpPr>
        <p:grpSpPr>
          <a:xfrm rot="-5400000" flipH="1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1001" name="Google Shape;1001;p23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2" name="Google Shape;1002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003" name="Google Shape;1003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04" name="Google Shape;1004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5" name="Google Shape;1005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06" name="Google Shape;1006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07" name="Google Shape;1007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8" name="Google Shape;1008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10" name="Google Shape;1010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1" name="Google Shape;1011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2" name="Google Shape;1012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13" name="Google Shape;1013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8" name="Google Shape;1018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19" name="Google Shape;1019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20" name="Google Shape;1020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21" name="Google Shape;1021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22" name="Google Shape;1022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23" name="Google Shape;1023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24" name="Google Shape;1024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5" name="Google Shape;1025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6" name="Google Shape;1026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7" name="Google Shape;1027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8" name="Google Shape;1028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29" name="Google Shape;1029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30" name="Google Shape;1030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31" name="Google Shape;1031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32" name="Google Shape;1032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33" name="Google Shape;1033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34" name="Google Shape;1034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5" name="Google Shape;1035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6" name="Google Shape;1036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7" name="Google Shape;1037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8" name="Google Shape;1038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39" name="Google Shape;1039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0" name="Google Shape;1040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41" name="Google Shape;1041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43" name="Google Shape;1043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44" name="Google Shape;1044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46" name="Google Shape;1046;p23"/>
          <p:cNvPicPr preferRelativeResize="0"/>
          <p:nvPr/>
        </p:nvPicPr>
        <p:blipFill rotWithShape="1">
          <a:blip r:embed="rId2">
            <a:alphaModFix/>
          </a:blip>
          <a:srcRect l="16960" t="24718" r="7121" b="26177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7" name="Google Shape;1047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48" name="Google Shape;1048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49" name="Google Shape;1049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0" name="Google Shape;1050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1" name="Google Shape;1051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52" name="Google Shape;1052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53" name="Google Shape;1053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7" name="Google Shape;1057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58" name="Google Shape;1058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9" name="Google Shape;1059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60" name="Google Shape;1060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1" name="Google Shape;1061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62" name="Google Shape;1062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63" name="Google Shape;1063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4" name="Google Shape;1064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65" name="Google Shape;1065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6" name="Google Shape;1066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67" name="Google Shape;1067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68" name="Google Shape;1068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69" name="Google Shape;1069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70" name="Google Shape;107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oogle Shape;1072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73" name="Google Shape;1073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74" name="Google Shape;1074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75" name="Google Shape;1075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76" name="Google Shape;1076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78" name="Google Shape;1078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79" name="Google Shape;1079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0" name="Google Shape;1080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1" name="Google Shape;1081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2" name="Google Shape;1082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84" name="Google Shape;1084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85" name="Google Shape;1085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86" name="Google Shape;1086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87" name="Google Shape;1087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88" name="Google Shape;1088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0" name="Google Shape;1090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91" name="Google Shape;1091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8" name="Google Shape;1098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6" name="Google Shape;1106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107" name="Google Shape;1107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3" name="Google Shape;1113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114" name="Google Shape;1114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6" name="Google Shape;1116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117" name="Google Shape;1117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9" name="Google Shape;1119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120" name="Google Shape;1120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121" name="Google Shape;1121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23" name="Google Shape;1123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5" name="Google Shape;1125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26" name="Google Shape;1126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33" name="Google Shape;1133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6" name="Google Shape;1136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7" name="Google Shape;1137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8" name="Google Shape;1138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9" name="Google Shape;1139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40" name="Google Shape;1140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41" name="Google Shape;1141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42" name="Google Shape;1142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43" name="Google Shape;1143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44" name="Google Shape;1144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45" name="Google Shape;1145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46" name="Google Shape;1146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47" name="Google Shape;1147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1" name="Google Shape;1151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52" name="Google Shape;1152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3" name="Google Shape;1153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54" name="Google Shape;115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56" name="Google Shape;1156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57" name="Google Shape;1157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59" name="Google Shape;1159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61" name="Google Shape;1161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62" name="Google Shape;1162;p2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3" name="Google Shape;1163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4" name="Google Shape;1164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65" name="Google Shape;1165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2" name="Google Shape;1172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73" name="Google Shape;1173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0" name="Google Shape;1180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81" name="Google Shape;1181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84" name="Google Shape;1184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85" name="Google Shape;1185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6" name="Google Shape;1186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7" name="Google Shape;1187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0" name="Google Shape;1190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2" name="Google Shape;1192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3" name="Google Shape;1193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4" name="Google Shape;1194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95" name="Google Shape;1195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96" name="Google Shape;1196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97" name="Google Shape;1197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98" name="Google Shape;1198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99" name="Google Shape;1199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00" name="Google Shape;1200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201" name="Google Shape;1201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03" name="Google Shape;1203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4" name="Google Shape;1204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6" name="Google Shape;1206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7" name="Google Shape;1207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9" name="Google Shape;1209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10" name="Google Shape;1210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12" name="Google Shape;1212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13" name="Google Shape;1213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4" name="Google Shape;1214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215" name="Google Shape;1215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216" name="Google Shape;1216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217" name="Google Shape;1217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218" name="Google Shape;1218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9" name="Google Shape;1219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0" name="Google Shape;1220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1" name="Google Shape;1221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22" name="Google Shape;1222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3" name="Google Shape;122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4" name="Google Shape;122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25" name="Google Shape;1225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6" name="Google Shape;1226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7" name="Google Shape;1227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28" name="Google Shape;1228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29" name="Google Shape;1229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31" name="Google Shape;1231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2" name="Google Shape;1232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33" name="Google Shape;1233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34" name="Google Shape;1234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6" name="Google Shape;1236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37" name="Google Shape;1237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39" name="Google Shape;1239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2" name="Google Shape;1242;p27"/>
          <p:cNvSpPr txBox="1">
            <a:spLocks noGrp="1"/>
          </p:cNvSpPr>
          <p:nvPr>
            <p:ph type="subTitle" idx="1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3" name="Google Shape;1243;p27"/>
          <p:cNvSpPr txBox="1">
            <a:spLocks noGrp="1"/>
          </p:cNvSpPr>
          <p:nvPr>
            <p:ph type="subTitle" idx="2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4" name="Google Shape;1244;p27"/>
          <p:cNvSpPr txBox="1">
            <a:spLocks noGrp="1"/>
          </p:cNvSpPr>
          <p:nvPr>
            <p:ph type="subTitle" idx="3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5" name="Google Shape;1245;p27"/>
          <p:cNvSpPr txBox="1">
            <a:spLocks noGrp="1"/>
          </p:cNvSpPr>
          <p:nvPr>
            <p:ph type="subTitle" idx="4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6" name="Google Shape;1246;p27"/>
          <p:cNvSpPr txBox="1">
            <a:spLocks noGrp="1"/>
          </p:cNvSpPr>
          <p:nvPr>
            <p:ph type="subTitle" idx="5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247;p27"/>
          <p:cNvSpPr txBox="1">
            <a:spLocks noGrp="1"/>
          </p:cNvSpPr>
          <p:nvPr>
            <p:ph type="subTitle" idx="6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8" name="Google Shape;1248;p27"/>
          <p:cNvSpPr txBox="1">
            <a:spLocks noGrp="1"/>
          </p:cNvSpPr>
          <p:nvPr>
            <p:ph type="subTitle" idx="7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49" name="Google Shape;1249;p27"/>
          <p:cNvSpPr txBox="1">
            <a:spLocks noGrp="1"/>
          </p:cNvSpPr>
          <p:nvPr>
            <p:ph type="subTitle" idx="8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50" name="Google Shape;1250;p27"/>
          <p:cNvSpPr txBox="1">
            <a:spLocks noGrp="1"/>
          </p:cNvSpPr>
          <p:nvPr>
            <p:ph type="subTitle" idx="9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51" name="Google Shape;1251;p27"/>
          <p:cNvSpPr txBox="1">
            <a:spLocks noGrp="1"/>
          </p:cNvSpPr>
          <p:nvPr>
            <p:ph type="subTitle" idx="13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52" name="Google Shape;1252;p27"/>
          <p:cNvSpPr txBox="1">
            <a:spLocks noGrp="1"/>
          </p:cNvSpPr>
          <p:nvPr>
            <p:ph type="subTitle" idx="14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53" name="Google Shape;1253;p27"/>
          <p:cNvSpPr txBox="1">
            <a:spLocks noGrp="1"/>
          </p:cNvSpPr>
          <p:nvPr>
            <p:ph type="subTitle" idx="15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254" name="Google Shape;1254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55" name="Google Shape;1255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56" name="Google Shape;1256;p27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57" name="Google Shape;1257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260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61" name="Google Shape;1261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3" name="Google Shape;1263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64" name="Google Shape;1264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65" name="Google Shape;1265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68" name="Google Shape;1268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9" name="Google Shape;1269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70" name="Google Shape;1270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71" name="Google Shape;1271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5" name="Google Shape;1275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78" name="Google Shape;1278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79" name="Google Shape;1279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0" name="Google Shape;1280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1" name="Google Shape;1281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86" name="Google Shape;1286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87" name="Google Shape;1287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88" name="Google Shape;1288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89" name="Google Shape;1289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0" name="Google Shape;1290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28"/>
          <p:cNvSpPr txBox="1">
            <a:spLocks noGrp="1"/>
          </p:cNvSpPr>
          <p:nvPr>
            <p:ph type="title" hasCustomPrompt="1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3" name="Google Shape;1293;p28"/>
          <p:cNvSpPr txBox="1">
            <a:spLocks noGrp="1"/>
          </p:cNvSpPr>
          <p:nvPr>
            <p:ph type="subTitle" idx="1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94" name="Google Shape;1294;p28"/>
          <p:cNvSpPr txBox="1">
            <a:spLocks noGrp="1"/>
          </p:cNvSpPr>
          <p:nvPr>
            <p:ph type="title" idx="2" hasCustomPrompt="1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5" name="Google Shape;1295;p28"/>
          <p:cNvSpPr txBox="1">
            <a:spLocks noGrp="1"/>
          </p:cNvSpPr>
          <p:nvPr>
            <p:ph type="subTitle" idx="3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96" name="Google Shape;1296;p28"/>
          <p:cNvSpPr txBox="1">
            <a:spLocks noGrp="1"/>
          </p:cNvSpPr>
          <p:nvPr>
            <p:ph type="title" idx="4" hasCustomPrompt="1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7" name="Google Shape;1297;p28"/>
          <p:cNvSpPr txBox="1">
            <a:spLocks noGrp="1"/>
          </p:cNvSpPr>
          <p:nvPr>
            <p:ph type="subTitle" idx="5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98" name="Google Shape;1298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9" name="Google Shape;1299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300" name="Google Shape;1300;p28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2" name="Google Shape;1302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303" name="Google Shape;1303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04" name="Google Shape;1304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05" name="Google Shape;1305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6" name="Google Shape;1306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29"/>
          <p:cNvSpPr txBox="1">
            <a:spLocks noGrp="1"/>
          </p:cNvSpPr>
          <p:nvPr>
            <p:ph type="subTitle" idx="1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9" name="Google Shape;1309;p29"/>
          <p:cNvSpPr txBox="1">
            <a:spLocks noGrp="1"/>
          </p:cNvSpPr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10" name="Google Shape;1310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311" name="Google Shape;1311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312" name="Google Shape;1312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4" name="Google Shape;1314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315" name="Google Shape;1315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6" name="Google Shape;1316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17" name="Google Shape;1317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1" name="Google Shape;1321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2" name="Google Shape;1322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23" name="Google Shape;1323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4" name="Google Shape;1324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25" name="Google Shape;1325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9" name="Google Shape;1329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30" name="Google Shape;1330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31" name="Google Shape;1331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32" name="Google Shape;1332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33" name="Google Shape;1333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4" name="Google Shape;1334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5" name="Google Shape;1335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6" name="Google Shape;1336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7" name="Google Shape;1337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38" name="Google Shape;1338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9" name="Google Shape;1339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40" name="Google Shape;1340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41" name="Google Shape;1341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42" name="Google Shape;1342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43" name="Google Shape;1343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4" name="Google Shape;1344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5" name="Google Shape;1345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6" name="Google Shape;1346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7" name="Google Shape;1347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48" name="Google Shape;1348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9" name="Google Shape;1349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50" name="Google Shape;1350;p2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51" name="Google Shape;1351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52" name="Google Shape;1352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6" name="Google Shape;1356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57" name="Google Shape;1357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58" name="Google Shape;1358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9" name="Google Shape;1359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0" name="Google Shape;1360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61" name="Google Shape;1361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62" name="Google Shape;1362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3" name="Google Shape;1363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364" name="Google Shape;1364;p29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5" name="Google Shape;1365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7" name="Google Shape;1367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68" name="Google Shape;1368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69" name="Google Shape;1369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3" name="Google Shape;1373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74" name="Google Shape;1374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75" name="Google Shape;1375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76" name="Google Shape;1376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7" name="Google Shape;1377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78" name="Google Shape;1378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79" name="Google Shape;137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0" name="Google Shape;138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81" name="Google Shape;1381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2" name="Google Shape;1382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83" name="Google Shape;1383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84" name="Google Shape;1384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5" name="Google Shape;1385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6" name="Google Shape;1386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87" name="Google Shape;138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4" name="Google Shape;1394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95" name="Google Shape;1395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2" name="Google Shape;1402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403" name="Google Shape;1403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5" name="Google Shape;1405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408" name="Google Shape;1408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09" name="Google Shape;1409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410" name="Google Shape;1410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11" name="Google Shape;1411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412" name="Google Shape;1412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14" name="Google Shape;1414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415" name="Google Shape;1415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418" name="Google Shape;1418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9" name="Google Shape;1419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0" name="Google Shape;1420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421" name="Google Shape;1421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22" name="Google Shape;142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3" name="Google Shape;142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4" name="Google Shape;142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5" name="Google Shape;142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6" name="Google Shape;142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7" name="Google Shape;142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8" name="Google Shape;142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29" name="Google Shape;1429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30" name="Google Shape;143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1" name="Google Shape;143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2" name="Google Shape;143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3" name="Google Shape;143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4" name="Google Shape;143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5" name="Google Shape;143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6" name="Google Shape;143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37" name="Google Shape;1437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38" name="Google Shape;1438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9" name="Google Shape;1439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0" name="Google Shape;1440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1" name="Google Shape;1441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2" name="Google Shape;1442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3" name="Google Shape;1443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4" name="Google Shape;1444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45" name="Google Shape;1445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46" name="Google Shape;1446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47" name="Google Shape;1447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8" name="Google Shape;1448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49" name="Google Shape;1449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thissGit/MSPR_1/tree/main/MSPR_scan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mathis.sineux@ecoles-epsi.ne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.png"/><Relationship Id="rId5" Type="http://schemas.openxmlformats.org/officeDocument/2006/relationships/hyperlink" Target="mailto:kerim.unal@ecoles-epsi.net" TargetMode="External"/><Relationship Id="rId4" Type="http://schemas.openxmlformats.org/officeDocument/2006/relationships/hyperlink" Target="mailto:k.ndour1@ecoles-epsi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32"/>
          <p:cNvSpPr txBox="1">
            <a:spLocks noGrp="1"/>
          </p:cNvSpPr>
          <p:nvPr>
            <p:ph type="subTitle" idx="1"/>
          </p:nvPr>
        </p:nvSpPr>
        <p:spPr>
          <a:xfrm>
            <a:off x="512650" y="3710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Mathis / Khalifa / Kerim</a:t>
            </a:r>
            <a:endParaRPr/>
          </a:p>
        </p:txBody>
      </p:sp>
      <p:sp>
        <p:nvSpPr>
          <p:cNvPr id="1455" name="Google Shape;1455;p32"/>
          <p:cNvSpPr txBox="1">
            <a:spLocks noGrp="1"/>
          </p:cNvSpPr>
          <p:nvPr>
            <p:ph type="ctrTitle"/>
          </p:nvPr>
        </p:nvSpPr>
        <p:spPr>
          <a:xfrm>
            <a:off x="512650" y="1070325"/>
            <a:ext cx="6974700" cy="24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MSPR 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Développement et sécurité informatique</a:t>
            </a:r>
            <a:endParaRPr sz="4000">
              <a:solidFill>
                <a:schemeClr val="dk1"/>
              </a:solidFill>
            </a:endParaRPr>
          </a:p>
        </p:txBody>
      </p:sp>
      <p:grpSp>
        <p:nvGrpSpPr>
          <p:cNvPr id="1456" name="Google Shape;1456;p32"/>
          <p:cNvGrpSpPr/>
          <p:nvPr/>
        </p:nvGrpSpPr>
        <p:grpSpPr>
          <a:xfrm>
            <a:off x="512650" y="3496811"/>
            <a:ext cx="3936683" cy="134070"/>
            <a:chOff x="1096850" y="3242811"/>
            <a:chExt cx="3936683" cy="134070"/>
          </a:xfrm>
        </p:grpSpPr>
        <p:cxnSp>
          <p:nvCxnSpPr>
            <p:cNvPr id="1457" name="Google Shape;1457;p32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58" name="Google Shape;1458;p32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59" name="Google Shape;1459;p32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2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1" name="Google Shape;1461;p32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62" name="Google Shape;1462;p32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63" name="Google Shape;1463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64" name="Google Shape;1464;p32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5" name="Google Shape;1465;p32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66" name="Google Shape;1466;p32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7" name="Google Shape;1467;p32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68" name="Google Shape;1468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0" name="Google Shape;1470;p32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71" name="Google Shape;1471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3" name="Google Shape;1473;p32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74" name="Google Shape;1474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76" name="Google Shape;1476;p32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Sommaire</a:t>
            </a:r>
            <a:endParaRPr sz="32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82" name="Google Shape;1482;p33"/>
          <p:cNvSpPr txBox="1">
            <a:spLocks noGrp="1"/>
          </p:cNvSpPr>
          <p:nvPr>
            <p:ph type="subTitle" idx="1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Démarche suivie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483" name="Google Shape;1483;p33"/>
          <p:cNvSpPr txBox="1">
            <a:spLocks noGrp="1"/>
          </p:cNvSpPr>
          <p:nvPr>
            <p:ph type="subTitle" idx="2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Solutions mises en place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484" name="Google Shape;1484;p33"/>
          <p:cNvSpPr txBox="1">
            <a:spLocks noGrp="1"/>
          </p:cNvSpPr>
          <p:nvPr>
            <p:ph type="subTitle" idx="15"/>
          </p:nvPr>
        </p:nvSpPr>
        <p:spPr>
          <a:xfrm>
            <a:off x="4844885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05</a:t>
            </a:r>
            <a:endParaRPr sz="3000"/>
          </a:p>
        </p:txBody>
      </p:sp>
      <p:sp>
        <p:nvSpPr>
          <p:cNvPr id="1485" name="Google Shape;1485;p33"/>
          <p:cNvSpPr txBox="1">
            <a:spLocks noGrp="1"/>
          </p:cNvSpPr>
          <p:nvPr>
            <p:ph type="subTitle" idx="9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01</a:t>
            </a:r>
            <a:endParaRPr sz="3100"/>
          </a:p>
        </p:txBody>
      </p:sp>
      <p:sp>
        <p:nvSpPr>
          <p:cNvPr id="1486" name="Google Shape;1486;p33"/>
          <p:cNvSpPr txBox="1">
            <a:spLocks noGrp="1"/>
          </p:cNvSpPr>
          <p:nvPr>
            <p:ph type="subTitle" idx="13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02</a:t>
            </a:r>
            <a:endParaRPr sz="3100"/>
          </a:p>
        </p:txBody>
      </p:sp>
      <p:sp>
        <p:nvSpPr>
          <p:cNvPr id="1487" name="Google Shape;1487;p33"/>
          <p:cNvSpPr txBox="1">
            <a:spLocks noGrp="1"/>
          </p:cNvSpPr>
          <p:nvPr>
            <p:ph type="subTitle" idx="3"/>
          </p:nvPr>
        </p:nvSpPr>
        <p:spPr>
          <a:xfrm>
            <a:off x="2095013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Résultats obtenus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488" name="Google Shape;1488;p33"/>
          <p:cNvSpPr txBox="1">
            <a:spLocks noGrp="1"/>
          </p:cNvSpPr>
          <p:nvPr>
            <p:ph type="subTitle" idx="4"/>
          </p:nvPr>
        </p:nvSpPr>
        <p:spPr>
          <a:xfrm>
            <a:off x="4844884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Perspectives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489" name="Google Shape;1489;p33"/>
          <p:cNvSpPr txBox="1">
            <a:spLocks noGrp="1"/>
          </p:cNvSpPr>
          <p:nvPr>
            <p:ph type="subTitle" idx="4294967295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C0A9E"/>
                </a:solidFill>
              </a:rPr>
              <a:t>Difficultés rencontrées</a:t>
            </a:r>
            <a:endParaRPr sz="1600" b="1">
              <a:solidFill>
                <a:srgbClr val="0C0A9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C0A9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</a:endParaRPr>
          </a:p>
        </p:txBody>
      </p:sp>
      <p:sp>
        <p:nvSpPr>
          <p:cNvPr id="1490" name="Google Shape;1490;p33"/>
          <p:cNvSpPr txBox="1">
            <a:spLocks noGrp="1"/>
          </p:cNvSpPr>
          <p:nvPr>
            <p:ph type="subTitle" idx="14"/>
          </p:nvPr>
        </p:nvSpPr>
        <p:spPr>
          <a:xfrm>
            <a:off x="2095013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04</a:t>
            </a:r>
            <a:endParaRPr sz="3000"/>
          </a:p>
        </p:txBody>
      </p:sp>
      <p:sp>
        <p:nvSpPr>
          <p:cNvPr id="1491" name="Google Shape;1491;p33"/>
          <p:cNvSpPr txBox="1">
            <a:spLocks noGrp="1"/>
          </p:cNvSpPr>
          <p:nvPr>
            <p:ph type="subTitle" idx="13"/>
          </p:nvPr>
        </p:nvSpPr>
        <p:spPr>
          <a:xfrm>
            <a:off x="6219748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03</a:t>
            </a:r>
            <a:endParaRPr sz="2900"/>
          </a:p>
        </p:txBody>
      </p:sp>
      <p:sp>
        <p:nvSpPr>
          <p:cNvPr id="1492" name="Google Shape;1492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7" name="Google Shape;1497;p34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98" name="Google Shape;1498;p3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4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00" name="Google Shape;1500;p3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03" name="Google Shape;1503;p34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6644700" cy="22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</a:t>
            </a:r>
            <a:endParaRPr/>
          </a:p>
        </p:txBody>
      </p:sp>
      <p:grpSp>
        <p:nvGrpSpPr>
          <p:cNvPr id="1504" name="Google Shape;1504;p34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505" name="Google Shape;1505;p34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4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4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4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4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10" name="Google Shape;1510;p3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1" name="Google Shape;1511;p34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12" name="Google Shape;1512;p3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4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20" name="Google Shape;1520;p3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4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28" name="Google Shape;1528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0" name="Google Shape;1530;p34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31" name="Google Shape;1531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3" name="Google Shape;1533;p34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4" name="Google Shape;1534;p34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35" name="Google Shape;1535;p34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6" name="Google Shape;1536;p34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37" name="Google Shape;1537;p34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8" name="Google Shape;1538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</a:t>
            </a:r>
            <a:endParaRPr/>
          </a:p>
        </p:txBody>
      </p:sp>
      <p:sp>
        <p:nvSpPr>
          <p:cNvPr id="1544" name="Google Shape;1544;p35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NFL IT créé en 2020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 deux associés français, spécialisée en infogérance, audit et intégration IT pour des organisations multisites.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Contrat exclusif avec la NFL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(32 franchises, plusieurs millions de dollars).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100+ collaborateurs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(Kansas City, datacenter en France).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Enjeu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Absence d’outils unifiés entraîne des déplacements coûteux et des délais de résolution élevés.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 "Seahawks Monitoring"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Standardiser la collecte d’infos techniques, centraliser la supervision et réduire les interventions sur site.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36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551" name="Google Shape;1551;p36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52" name="Google Shape;1552;p36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3" name="Google Shape;1553;p36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54" name="Google Shape;1554;p3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57" name="Google Shape;1557;p36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6644700" cy="22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Démarche Suivie</a:t>
            </a:r>
            <a:endParaRPr/>
          </a:p>
        </p:txBody>
      </p:sp>
      <p:grpSp>
        <p:nvGrpSpPr>
          <p:cNvPr id="1558" name="Google Shape;1558;p36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559" name="Google Shape;1559;p36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64" name="Google Shape;1564;p36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65" name="Google Shape;1565;p36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66" name="Google Shape;1566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6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74" name="Google Shape;1574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1" name="Google Shape;1581;p36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82" name="Google Shape;1582;p3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4" name="Google Shape;1584;p36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85" name="Google Shape;1585;p3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87" name="Google Shape;1587;p36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8" name="Google Shape;1588;p36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89" name="Google Shape;1589;p36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90" name="Google Shape;1590;p36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91" name="Google Shape;1591;p36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2" name="Google Shape;1592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Démarche Suivie</a:t>
            </a:r>
            <a:endParaRPr/>
          </a:p>
        </p:txBody>
      </p:sp>
      <p:sp>
        <p:nvSpPr>
          <p:cNvPr id="1598" name="Google Shape;1598;p37"/>
          <p:cNvSpPr txBox="1"/>
          <p:nvPr/>
        </p:nvSpPr>
        <p:spPr>
          <a:xfrm>
            <a:off x="2183075" y="1293800"/>
            <a:ext cx="6177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Définition du besoin :</a:t>
            </a: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Comprendre les attendues, définir les tâches à effectuer…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9" name="Google Shape;1599;p37"/>
          <p:cNvSpPr txBox="1"/>
          <p:nvPr/>
        </p:nvSpPr>
        <p:spPr>
          <a:xfrm>
            <a:off x="782975" y="1292138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0" name="Google Shape;1600;p37"/>
          <p:cNvSpPr txBox="1"/>
          <p:nvPr/>
        </p:nvSpPr>
        <p:spPr>
          <a:xfrm>
            <a:off x="2183125" y="2192675"/>
            <a:ext cx="6177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Organisation 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Création d’un espace de travail commun, répartition et attribution des tâches…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1" name="Google Shape;1601;p37"/>
          <p:cNvSpPr txBox="1"/>
          <p:nvPr/>
        </p:nvSpPr>
        <p:spPr>
          <a:xfrm>
            <a:off x="782975" y="2191025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2" name="Google Shape;1602;p37"/>
          <p:cNvSpPr txBox="1"/>
          <p:nvPr/>
        </p:nvSpPr>
        <p:spPr>
          <a:xfrm>
            <a:off x="2183125" y="3081725"/>
            <a:ext cx="6177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Travail :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Réalisation des tâches listées étape par étapes, gestion du projet en parallèle.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3" name="Google Shape;1603;p37"/>
          <p:cNvSpPr txBox="1"/>
          <p:nvPr/>
        </p:nvSpPr>
        <p:spPr>
          <a:xfrm>
            <a:off x="782975" y="3080075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4" name="Google Shape;1604;p37"/>
          <p:cNvSpPr txBox="1"/>
          <p:nvPr/>
        </p:nvSpPr>
        <p:spPr>
          <a:xfrm>
            <a:off x="2183125" y="3972425"/>
            <a:ext cx="6177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&amp; Documentation 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Regrouper le travail en commun, tester que tout fonctionne bien, docummenter le projet.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5" name="Google Shape;1605;p37"/>
          <p:cNvSpPr txBox="1"/>
          <p:nvPr/>
        </p:nvSpPr>
        <p:spPr>
          <a:xfrm>
            <a:off x="782975" y="3970775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3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606" name="Google Shape;1606;p37"/>
          <p:cNvCxnSpPr>
            <a:stCxn id="1599" idx="3"/>
            <a:endCxn id="1607" idx="1"/>
          </p:cNvCxnSpPr>
          <p:nvPr/>
        </p:nvCxnSpPr>
        <p:spPr>
          <a:xfrm>
            <a:off x="1505375" y="1580138"/>
            <a:ext cx="677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8" name="Google Shape;1608;p37"/>
          <p:cNvCxnSpPr>
            <a:stCxn id="1601" idx="3"/>
            <a:endCxn id="1609" idx="1"/>
          </p:cNvCxnSpPr>
          <p:nvPr/>
        </p:nvCxnSpPr>
        <p:spPr>
          <a:xfrm>
            <a:off x="1505375" y="2479025"/>
            <a:ext cx="677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0" name="Google Shape;1610;p37"/>
          <p:cNvCxnSpPr>
            <a:stCxn id="1603" idx="3"/>
            <a:endCxn id="1611" idx="1"/>
          </p:cNvCxnSpPr>
          <p:nvPr/>
        </p:nvCxnSpPr>
        <p:spPr>
          <a:xfrm>
            <a:off x="1505375" y="3368075"/>
            <a:ext cx="677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2" name="Google Shape;1612;p37"/>
          <p:cNvCxnSpPr>
            <a:stCxn id="1605" idx="3"/>
            <a:endCxn id="1613" idx="1"/>
          </p:cNvCxnSpPr>
          <p:nvPr/>
        </p:nvCxnSpPr>
        <p:spPr>
          <a:xfrm>
            <a:off x="1505375" y="4258775"/>
            <a:ext cx="677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4" name="Google Shape;1614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620" name="Google Shape;1620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621" name="Google Shape;1621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22" name="Google Shape;1622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623" name="Google Shape;1623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6" name="Google Shape;1626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29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C0A9E"/>
                </a:solidFill>
              </a:rPr>
              <a:t>Solutions mise en place</a:t>
            </a:r>
            <a:endParaRPr/>
          </a:p>
        </p:txBody>
      </p:sp>
      <p:grpSp>
        <p:nvGrpSpPr>
          <p:cNvPr id="1627" name="Google Shape;1627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628" name="Google Shape;1628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33" name="Google Shape;1633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34" name="Google Shape;1634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635" name="Google Shape;1635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2" name="Google Shape;1642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643" name="Google Shape;1643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0" name="Google Shape;1650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651" name="Google Shape;165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3" name="Google Shape;1653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654" name="Google Shape;1654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6" name="Google Shape;1656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7" name="Google Shape;1657;p38"/>
          <p:cNvGrpSpPr/>
          <p:nvPr/>
        </p:nvGrpSpPr>
        <p:grpSpPr>
          <a:xfrm>
            <a:off x="720000" y="3944126"/>
            <a:ext cx="4558967" cy="134100"/>
            <a:chOff x="796100" y="3019701"/>
            <a:chExt cx="4558967" cy="134100"/>
          </a:xfrm>
        </p:grpSpPr>
        <p:sp>
          <p:nvSpPr>
            <p:cNvPr id="1658" name="Google Shape;1658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59" name="Google Shape;1659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60" name="Google Shape;1660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1" name="Google Shape;1661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39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&amp; GitHub</a:t>
            </a:r>
            <a:endParaRPr/>
          </a:p>
        </p:txBody>
      </p:sp>
      <p:sp>
        <p:nvSpPr>
          <p:cNvPr id="1667" name="Google Shape;1667;p39"/>
          <p:cNvSpPr txBox="1">
            <a:spLocks noGrp="1"/>
          </p:cNvSpPr>
          <p:nvPr>
            <p:ph type="subTitle" idx="1"/>
          </p:nvPr>
        </p:nvSpPr>
        <p:spPr>
          <a:xfrm>
            <a:off x="720000" y="1109750"/>
            <a:ext cx="3145200" cy="34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&gt; Utilisation de GitHub Project pour la gestion de projet et des tâches.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&gt; Création d’un repository pour le partage des documents relatifs au projet.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grpSp>
        <p:nvGrpSpPr>
          <p:cNvPr id="1668" name="Google Shape;1668;p39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669" name="Google Shape;1669;p39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9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9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9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9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9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9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76" name="Google Shape;1676;p39"/>
          <p:cNvPicPr preferRelativeResize="0"/>
          <p:nvPr/>
        </p:nvPicPr>
        <p:blipFill rotWithShape="1">
          <a:blip r:embed="rId3">
            <a:alphaModFix/>
          </a:blip>
          <a:srcRect b="25239"/>
          <a:stretch/>
        </p:blipFill>
        <p:spPr>
          <a:xfrm>
            <a:off x="2868550" y="2939325"/>
            <a:ext cx="4043551" cy="20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025" y="231450"/>
            <a:ext cx="4598750" cy="258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8" name="Google Shape;1678;p39"/>
          <p:cNvSpPr txBox="1">
            <a:spLocks noGrp="1"/>
          </p:cNvSpPr>
          <p:nvPr>
            <p:ph type="sldNum" idx="12"/>
          </p:nvPr>
        </p:nvSpPr>
        <p:spPr>
          <a:xfrm>
            <a:off x="8556784" y="25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40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Python3</a:t>
            </a:r>
            <a:endParaRPr/>
          </a:p>
        </p:txBody>
      </p:sp>
      <p:sp>
        <p:nvSpPr>
          <p:cNvPr id="1684" name="Google Shape;1684;p40"/>
          <p:cNvSpPr txBox="1">
            <a:spLocks noGrp="1"/>
          </p:cNvSpPr>
          <p:nvPr>
            <p:ph type="subTitle" idx="1"/>
          </p:nvPr>
        </p:nvSpPr>
        <p:spPr>
          <a:xfrm>
            <a:off x="720000" y="1109750"/>
            <a:ext cx="3145200" cy="34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Les scripts pour le scan réseau est écrit en Python3 et utilise la bibliothèque « nmap ».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grpSp>
        <p:nvGrpSpPr>
          <p:cNvPr id="1685" name="Google Shape;1685;p40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686" name="Google Shape;1686;p40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0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0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0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3" name="Google Shape;1693;p40"/>
          <p:cNvSpPr txBox="1">
            <a:spLocks noGrp="1"/>
          </p:cNvSpPr>
          <p:nvPr>
            <p:ph type="sldNum" idx="12"/>
          </p:nvPr>
        </p:nvSpPr>
        <p:spPr>
          <a:xfrm>
            <a:off x="8556784" y="25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694" name="Google Shape;16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175" y="396998"/>
            <a:ext cx="3722625" cy="43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41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Flask</a:t>
            </a:r>
            <a:endParaRPr/>
          </a:p>
        </p:txBody>
      </p:sp>
      <p:sp>
        <p:nvSpPr>
          <p:cNvPr id="1700" name="Google Shape;1700;p41"/>
          <p:cNvSpPr txBox="1">
            <a:spLocks noGrp="1"/>
          </p:cNvSpPr>
          <p:nvPr>
            <p:ph type="subTitle" idx="1"/>
          </p:nvPr>
        </p:nvSpPr>
        <p:spPr>
          <a:xfrm>
            <a:off x="720000" y="1109750"/>
            <a:ext cx="75432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Nous avons aussi utiliser Flask pour le dashboard sur la machine “Harvester” 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1701" name="Google Shape;1701;p41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702" name="Google Shape;1702;p41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1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1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1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1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1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1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9" name="Google Shape;1709;p41"/>
          <p:cNvSpPr txBox="1">
            <a:spLocks noGrp="1"/>
          </p:cNvSpPr>
          <p:nvPr>
            <p:ph type="sldNum" idx="12"/>
          </p:nvPr>
        </p:nvSpPr>
        <p:spPr>
          <a:xfrm>
            <a:off x="8556784" y="25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710" name="Google Shape;171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172" y="1766175"/>
            <a:ext cx="6520852" cy="29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42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3525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 &amp; Inotify</a:t>
            </a:r>
            <a:endParaRPr/>
          </a:p>
        </p:txBody>
      </p:sp>
      <p:sp>
        <p:nvSpPr>
          <p:cNvPr id="1716" name="Google Shape;1716;p42"/>
          <p:cNvSpPr txBox="1">
            <a:spLocks noGrp="1"/>
          </p:cNvSpPr>
          <p:nvPr>
            <p:ph type="subTitle" idx="1"/>
          </p:nvPr>
        </p:nvSpPr>
        <p:spPr>
          <a:xfrm>
            <a:off x="720000" y="1109750"/>
            <a:ext cx="3145200" cy="34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0000"/>
                </a:solidFill>
              </a:rPr>
              <a:t>SCP :</a:t>
            </a:r>
            <a:r>
              <a:rPr lang="en">
                <a:solidFill>
                  <a:srgbClr val="000000"/>
                </a:solidFill>
              </a:rPr>
              <a:t> Script Bash  pour l’envoie de fichiers/rapports entre les machines.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0000"/>
                </a:solidFill>
              </a:rPr>
              <a:t>Inotify :</a:t>
            </a:r>
            <a:r>
              <a:rPr lang="en">
                <a:solidFill>
                  <a:srgbClr val="000000"/>
                </a:solidFill>
              </a:rPr>
              <a:t> Détecte ou non la présence d’un nouveau fichier dans le dossier reports 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7" name="Google Shape;1717;p42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718" name="Google Shape;1718;p42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2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2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2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2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2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2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25" name="Google Shape;1725;p42" title="scp.png"/>
          <p:cNvPicPr preferRelativeResize="0"/>
          <p:nvPr/>
        </p:nvPicPr>
        <p:blipFill rotWithShape="1">
          <a:blip r:embed="rId3">
            <a:alphaModFix/>
          </a:blip>
          <a:srcRect r="47627"/>
          <a:stretch/>
        </p:blipFill>
        <p:spPr>
          <a:xfrm>
            <a:off x="4206150" y="907525"/>
            <a:ext cx="4637326" cy="332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42"/>
          <p:cNvSpPr txBox="1">
            <a:spLocks noGrp="1"/>
          </p:cNvSpPr>
          <p:nvPr>
            <p:ph type="sldNum" idx="12"/>
          </p:nvPr>
        </p:nvSpPr>
        <p:spPr>
          <a:xfrm>
            <a:off x="8556784" y="25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43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HTML/CSS/JS</a:t>
            </a:r>
            <a:endParaRPr/>
          </a:p>
        </p:txBody>
      </p:sp>
      <p:sp>
        <p:nvSpPr>
          <p:cNvPr id="1732" name="Google Shape;1732;p43"/>
          <p:cNvSpPr txBox="1">
            <a:spLocks noGrp="1"/>
          </p:cNvSpPr>
          <p:nvPr>
            <p:ph type="subTitle" idx="1"/>
          </p:nvPr>
        </p:nvSpPr>
        <p:spPr>
          <a:xfrm>
            <a:off x="720000" y="1109750"/>
            <a:ext cx="2581800" cy="34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Dashboard simple en HTML / CSS.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On utilise un script JS pour traiter les fichiers json reçu de la part des franchises.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Affichage de façon dynamique dans le DOM les informations</a:t>
            </a:r>
            <a:endParaRPr/>
          </a:p>
        </p:txBody>
      </p:sp>
      <p:grpSp>
        <p:nvGrpSpPr>
          <p:cNvPr id="1733" name="Google Shape;1733;p43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734" name="Google Shape;1734;p43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3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3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3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3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3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3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41" name="Google Shape;17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225" y="1277350"/>
            <a:ext cx="5457576" cy="294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43"/>
          <p:cNvSpPr txBox="1">
            <a:spLocks noGrp="1"/>
          </p:cNvSpPr>
          <p:nvPr>
            <p:ph type="sldNum" idx="12"/>
          </p:nvPr>
        </p:nvSpPr>
        <p:spPr>
          <a:xfrm>
            <a:off x="8556784" y="25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44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 </a:t>
            </a:r>
            <a:endParaRPr/>
          </a:p>
        </p:txBody>
      </p:sp>
      <p:sp>
        <p:nvSpPr>
          <p:cNvPr id="1748" name="Google Shape;1748;p44"/>
          <p:cNvSpPr txBox="1">
            <a:spLocks noGrp="1"/>
          </p:cNvSpPr>
          <p:nvPr>
            <p:ph type="subTitle" idx="1"/>
          </p:nvPr>
        </p:nvSpPr>
        <p:spPr>
          <a:xfrm>
            <a:off x="720000" y="1109750"/>
            <a:ext cx="3145200" cy="34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Hébergement du dashboard sur la machine « Nester »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+ Reverse-Proxy.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9" name="Google Shape;1749;p44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750" name="Google Shape;1750;p44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4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4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4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4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4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4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57" name="Google Shape;175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925" y="861075"/>
            <a:ext cx="4359750" cy="34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44"/>
          <p:cNvSpPr txBox="1">
            <a:spLocks noGrp="1"/>
          </p:cNvSpPr>
          <p:nvPr>
            <p:ph type="sldNum" idx="12"/>
          </p:nvPr>
        </p:nvSpPr>
        <p:spPr>
          <a:xfrm>
            <a:off x="8556784" y="25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45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PM2</a:t>
            </a:r>
            <a:endParaRPr/>
          </a:p>
        </p:txBody>
      </p:sp>
      <p:sp>
        <p:nvSpPr>
          <p:cNvPr id="1764" name="Google Shape;1764;p45"/>
          <p:cNvSpPr txBox="1">
            <a:spLocks noGrp="1"/>
          </p:cNvSpPr>
          <p:nvPr>
            <p:ph type="subTitle" idx="1"/>
          </p:nvPr>
        </p:nvSpPr>
        <p:spPr>
          <a:xfrm>
            <a:off x="720000" y="1109750"/>
            <a:ext cx="3145200" cy="34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&gt; Lancer l'environnement NodeJS au démarrage des machines virtuels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&gt; Garder l'application toujours en ligne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&gt; Redémarrer automatiquement l'application si elle plante ou si le serveur redémarre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&gt; Faciliter la gestion et le monitoring.</a:t>
            </a:r>
            <a:endParaRPr/>
          </a:p>
        </p:txBody>
      </p:sp>
      <p:grpSp>
        <p:nvGrpSpPr>
          <p:cNvPr id="1765" name="Google Shape;1765;p45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766" name="Google Shape;1766;p45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5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5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5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5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5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5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73" name="Google Shape;17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250" y="479751"/>
            <a:ext cx="4228750" cy="30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4" name="Google Shape;177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5349" y="3544925"/>
            <a:ext cx="5444875" cy="11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5" name="Google Shape;1775;p45"/>
          <p:cNvSpPr txBox="1">
            <a:spLocks noGrp="1"/>
          </p:cNvSpPr>
          <p:nvPr>
            <p:ph type="sldNum" idx="12"/>
          </p:nvPr>
        </p:nvSpPr>
        <p:spPr>
          <a:xfrm>
            <a:off x="8556784" y="25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46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781" name="Google Shape;1781;p46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782" name="Google Shape;1782;p46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83" name="Google Shape;1783;p46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784" name="Google Shape;1784;p4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4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4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87" name="Google Shape;1787;p46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29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C0A9E"/>
                </a:solidFill>
              </a:rPr>
              <a:t>Difficultés Rencontrées</a:t>
            </a:r>
            <a:endParaRPr>
              <a:solidFill>
                <a:srgbClr val="0C0A9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A9E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A9E"/>
              </a:solidFill>
            </a:endParaRPr>
          </a:p>
        </p:txBody>
      </p:sp>
      <p:grpSp>
        <p:nvGrpSpPr>
          <p:cNvPr id="1788" name="Google Shape;1788;p46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789" name="Google Shape;1789;p46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6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6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6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6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94" name="Google Shape;1794;p46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95" name="Google Shape;1795;p46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796" name="Google Shape;1796;p4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4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4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4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4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4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3" name="Google Shape;1803;p46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804" name="Google Shape;1804;p4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4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4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4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4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1" name="Google Shape;1811;p46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812" name="Google Shape;1812;p4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4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4" name="Google Shape;1814;p46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815" name="Google Shape;1815;p4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4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17" name="Google Shape;1817;p46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8" name="Google Shape;1818;p46"/>
          <p:cNvGrpSpPr/>
          <p:nvPr/>
        </p:nvGrpSpPr>
        <p:grpSpPr>
          <a:xfrm>
            <a:off x="720000" y="3944126"/>
            <a:ext cx="4558967" cy="134100"/>
            <a:chOff x="796100" y="3019701"/>
            <a:chExt cx="4558967" cy="134100"/>
          </a:xfrm>
        </p:grpSpPr>
        <p:sp>
          <p:nvSpPr>
            <p:cNvPr id="1819" name="Google Shape;1819;p46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20" name="Google Shape;1820;p46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21" name="Google Shape;1821;p46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2" name="Google Shape;1822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Difficultés Rencontrées</a:t>
            </a:r>
            <a:endParaRPr/>
          </a:p>
        </p:txBody>
      </p:sp>
      <p:sp>
        <p:nvSpPr>
          <p:cNvPr id="1828" name="Google Shape;1828;p47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Automatisation &amp; Script SCP : 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Problèmes de configurations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Gestion des permissions 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Chemins d’accès 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Execution automatique </a:t>
            </a:r>
            <a:endParaRPr dirty="0"/>
          </a:p>
        </p:txBody>
      </p:sp>
      <p:sp>
        <p:nvSpPr>
          <p:cNvPr id="1829" name="Google Shape;1829;p47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Firewall &amp; réseau école : 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Connexions bloquées 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Transferts limités 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Difficulté à identifier l’origine des blocages 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Perte de temps</a:t>
            </a:r>
            <a:endParaRPr/>
          </a:p>
        </p:txBody>
      </p:sp>
      <p:grpSp>
        <p:nvGrpSpPr>
          <p:cNvPr id="1830" name="Google Shape;1830;p47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831" name="Google Shape;1831;p47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832" name="Google Shape;1832;p47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47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4" name="Google Shape;1834;p47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835" name="Google Shape;1835;p4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36" name="Google Shape;1836;p4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37" name="Google Shape;1837;p4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38" name="Google Shape;1838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4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844" name="Google Shape;1844;p4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845" name="Google Shape;1845;p4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46" name="Google Shape;1846;p4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847" name="Google Shape;1847;p4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4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50" name="Google Shape;1850;p4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8579100" cy="22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Résultats Obtenus</a:t>
            </a:r>
            <a:endParaRPr/>
          </a:p>
        </p:txBody>
      </p:sp>
      <p:grpSp>
        <p:nvGrpSpPr>
          <p:cNvPr id="1851" name="Google Shape;1851;p4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852" name="Google Shape;1852;p4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57" name="Google Shape;1857;p4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8" name="Google Shape;1858;p4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859" name="Google Shape;1859;p4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6" name="Google Shape;1866;p4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867" name="Google Shape;1867;p4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4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4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4" name="Google Shape;1874;p4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875" name="Google Shape;1875;p4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4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7" name="Google Shape;1877;p4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878" name="Google Shape;1878;p4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4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0" name="Google Shape;1880;p4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1" name="Google Shape;1881;p4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882" name="Google Shape;1882;p4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83" name="Google Shape;1883;p4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84" name="Google Shape;1884;p4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5" name="Google Shape;1885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Seahawks Nester</a:t>
            </a:r>
            <a:endParaRPr/>
          </a:p>
        </p:txBody>
      </p:sp>
      <p:sp>
        <p:nvSpPr>
          <p:cNvPr id="1896" name="Google Shape;1896;p50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Plateforme centrale pour consulter les sondes, leur état, le dernier rapport et les indicateurs collectés.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Serveur web Nginx /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Consultation sur navigateur web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Tableaux de bord ( interfaces avec HTML / CSS / JS )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Listes des sondes par franchises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 et disponibilité continue avec PM2 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Seahawks Harvester</a:t>
            </a:r>
            <a:endParaRPr/>
          </a:p>
        </p:txBody>
      </p:sp>
      <p:sp>
        <p:nvSpPr>
          <p:cNvPr id="1908" name="Google Shape;1908;p52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Composant local (sonde) qui collecte des données réseau (IP, nb équipements, latence, etc.), </a:t>
            </a: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génère un rapport avec version, stocke les résultats et les transmets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Scripts Python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pour la collecte et l'analyse des données réseaux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/ ID hôte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 / Ports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Nbs équipements détectés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( scan_05-11-2025_10H57_S01.json )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Tableaux de bord local ( interfaces avec Flask )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Script Bash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pour l’envoie et la collecte de fichiers entre les machines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readme script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53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915" name="Google Shape;1915;p53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916" name="Google Shape;1916;p53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17" name="Google Shape;1917;p53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918" name="Google Shape;1918;p5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5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5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21" name="Google Shape;1921;p5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8579100" cy="22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Perspectives</a:t>
            </a:r>
            <a:endParaRPr/>
          </a:p>
        </p:txBody>
      </p:sp>
      <p:grpSp>
        <p:nvGrpSpPr>
          <p:cNvPr id="1922" name="Google Shape;1922;p53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923" name="Google Shape;1923;p53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53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3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53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53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28" name="Google Shape;1928;p53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29" name="Google Shape;1929;p53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930" name="Google Shape;1930;p5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5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5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5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5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5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5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7" name="Google Shape;1937;p53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938" name="Google Shape;1938;p5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5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5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5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5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5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5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5" name="Google Shape;1945;p53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946" name="Google Shape;1946;p5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5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8" name="Google Shape;1948;p53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949" name="Google Shape;1949;p5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5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51" name="Google Shape;1951;p53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53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953" name="Google Shape;1953;p5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4" name="Google Shape;1954;p5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55" name="Google Shape;1955;p5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Perspectives d’Améliorations 1/2</a:t>
            </a:r>
            <a:endParaRPr/>
          </a:p>
        </p:txBody>
      </p:sp>
      <p:sp>
        <p:nvSpPr>
          <p:cNvPr id="1962" name="Google Shape;1962;p54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Ajouter les runbook d’exploitation et la documentation sur les dashboard client.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Créer et mettre en place un certificat SSL avec un nom de domaine pour les dashboard hébergé en ligne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Authentification et gestion de session (OWASP A2) :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◆"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Mettre en place un système d’authentification forte pour les diffèrent sites (Nester/Harvester) en utilisant OAuth ou des tokens JWT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◆"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Utilisation de sessions sécurisées avec des cookies (‘’session’’ dans Flask)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Chiffrement des informations sensible (OWASP A3) qui peuvent être présent dans les scripts ou en ligne -&gt; utilisation de AES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3" name="Google Shape;196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5900" y="4289325"/>
            <a:ext cx="1778099" cy="79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625" y="4369525"/>
            <a:ext cx="2384275" cy="63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54"/>
          <p:cNvSpPr txBox="1">
            <a:spLocks noGrp="1"/>
          </p:cNvSpPr>
          <p:nvPr>
            <p:ph type="sldNum" idx="12"/>
          </p:nvPr>
        </p:nvSpPr>
        <p:spPr>
          <a:xfrm>
            <a:off x="22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Perspectives d’Améliorations 2/2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55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➔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Utiliser des mots de passe fort en production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Contrôle des rôles attribué aux utilisateurs (administrateur, exécution des scripts, etc…)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Faille XSS : Ajouter des headers CSP dans la configuration Nginx pour restreindre les sources de scripts exécutables et éviter l’injection de JavaScript malveillant.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Logging et surveillance (OWASP A10) 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◆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Activer la journalisation dans Flask et Nginx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◆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Surveiller les tentatives de connexion avec ‘’fail2ban‘’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2" name="Google Shape;197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625" y="4369525"/>
            <a:ext cx="2384275" cy="63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5900" y="4289325"/>
            <a:ext cx="1778099" cy="79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55"/>
          <p:cNvSpPr txBox="1">
            <a:spLocks noGrp="1"/>
          </p:cNvSpPr>
          <p:nvPr>
            <p:ph type="sldNum" idx="12"/>
          </p:nvPr>
        </p:nvSpPr>
        <p:spPr>
          <a:xfrm>
            <a:off x="22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56"/>
          <p:cNvSpPr txBox="1">
            <a:spLocks noGrp="1"/>
          </p:cNvSpPr>
          <p:nvPr>
            <p:ph type="subTitle" idx="1"/>
          </p:nvPr>
        </p:nvSpPr>
        <p:spPr>
          <a:xfrm>
            <a:off x="1157250" y="1609575"/>
            <a:ext cx="4448100" cy="18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 :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u="sng">
                <a:solidFill>
                  <a:schemeClr val="hlink"/>
                </a:solidFill>
                <a:hlinkClick r:id="rId3"/>
              </a:rPr>
              <a:t>mathis.sineux@ecoles-epsi.net</a:t>
            </a:r>
            <a:r>
              <a:rPr lang="en" sz="1400" b="0"/>
              <a:t>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u="sng">
                <a:solidFill>
                  <a:schemeClr val="hlink"/>
                </a:solidFill>
                <a:hlinkClick r:id="rId4"/>
              </a:rPr>
              <a:t>k.ndour1@ecoles-epsi.net</a:t>
            </a:r>
            <a:endParaRPr sz="1400" b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u="sng">
                <a:solidFill>
                  <a:schemeClr val="hlink"/>
                </a:solidFill>
                <a:hlinkClick r:id="rId5"/>
              </a:rPr>
              <a:t>kerim.unal@ecoles-epsi.net</a:t>
            </a:r>
            <a:r>
              <a:rPr lang="en" sz="1400" b="0"/>
              <a:t> </a:t>
            </a:r>
            <a:endParaRPr/>
          </a:p>
        </p:txBody>
      </p:sp>
      <p:sp>
        <p:nvSpPr>
          <p:cNvPr id="1980" name="Google Shape;1980;p56"/>
          <p:cNvSpPr txBox="1">
            <a:spLocks noGrp="1"/>
          </p:cNvSpPr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981" name="Google Shape;1981;p56"/>
          <p:cNvGrpSpPr/>
          <p:nvPr/>
        </p:nvGrpSpPr>
        <p:grpSpPr>
          <a:xfrm rot="10800000" flipH="1">
            <a:off x="6773992" y="-1205456"/>
            <a:ext cx="4151819" cy="5527900"/>
            <a:chOff x="6309526" y="836950"/>
            <a:chExt cx="3920509" cy="5219925"/>
          </a:xfrm>
        </p:grpSpPr>
        <p:pic>
          <p:nvPicPr>
            <p:cNvPr id="1982" name="Google Shape;1982;p56"/>
            <p:cNvPicPr preferRelativeResize="0"/>
            <p:nvPr/>
          </p:nvPicPr>
          <p:blipFill rotWithShape="1">
            <a:blip r:embed="rId6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3" name="Google Shape;1983;p56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56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56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6" name="Google Shape;1986;p56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1987" name="Google Shape;1987;p5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5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5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5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5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5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5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4" name="Google Shape;1994;p56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995" name="Google Shape;1995;p5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5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7" name="Google Shape;1997;p56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998" name="Google Shape;1998;p5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5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0" name="Google Shape;2000;p56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2001" name="Google Shape;2001;p5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5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03" name="Google Shape;2003;p56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4" name="Google Shape;2004;p56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2005" name="Google Shape;2005;p5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5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5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8" name="Google Shape;2008;p56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2009" name="Google Shape;2009;p5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5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5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12" name="Google Shape;2012;p56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3" name="Google Shape;2013;p56"/>
          <p:cNvGrpSpPr/>
          <p:nvPr/>
        </p:nvGrpSpPr>
        <p:grpSpPr>
          <a:xfrm>
            <a:off x="1234025" y="4151751"/>
            <a:ext cx="4558967" cy="134100"/>
            <a:chOff x="796100" y="3019701"/>
            <a:chExt cx="4558967" cy="134100"/>
          </a:xfrm>
        </p:grpSpPr>
        <p:sp>
          <p:nvSpPr>
            <p:cNvPr id="2014" name="Google Shape;2014;p56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5" name="Google Shape;2015;p56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16" name="Google Shape;2016;p56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7" name="Google Shape;2017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1300</Words>
  <Application>Microsoft Office PowerPoint</Application>
  <PresentationFormat>Affichage à l'écran (16:9)</PresentationFormat>
  <Paragraphs>169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Arial</vt:lpstr>
      <vt:lpstr>IBM Plex Mono</vt:lpstr>
      <vt:lpstr>Open Sans</vt:lpstr>
      <vt:lpstr>Poppins</vt:lpstr>
      <vt:lpstr>PT Sans</vt:lpstr>
      <vt:lpstr>Roboto Condensed Light</vt:lpstr>
      <vt:lpstr>Source Code Pro</vt:lpstr>
      <vt:lpstr>Introduction to Coding Workshop by Slidesgo</vt:lpstr>
      <vt:lpstr>MSPR 1 Développement et sécurité informatique</vt:lpstr>
      <vt:lpstr>Sommaire</vt:lpstr>
      <vt:lpstr>Contexte</vt:lpstr>
      <vt:lpstr>Contexte</vt:lpstr>
      <vt:lpstr>01</vt:lpstr>
      <vt:lpstr>Démarche Suivie</vt:lpstr>
      <vt:lpstr>02</vt:lpstr>
      <vt:lpstr>Git &amp; GitHub</vt:lpstr>
      <vt:lpstr>Python3</vt:lpstr>
      <vt:lpstr>Flask</vt:lpstr>
      <vt:lpstr>SCP &amp; Inotify</vt:lpstr>
      <vt:lpstr>HTML/CSS/JS</vt:lpstr>
      <vt:lpstr>NGINX </vt:lpstr>
      <vt:lpstr>PM2</vt:lpstr>
      <vt:lpstr>03</vt:lpstr>
      <vt:lpstr>Difficultés Rencontrées</vt:lpstr>
      <vt:lpstr>04</vt:lpstr>
      <vt:lpstr>Seahawks Nester</vt:lpstr>
      <vt:lpstr>Seahawks Harvester</vt:lpstr>
      <vt:lpstr>05</vt:lpstr>
      <vt:lpstr>Perspectives d’Améliorations 1/2</vt:lpstr>
      <vt:lpstr>Perspectives d’Améliorations 2/2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mathis sineux</cp:lastModifiedBy>
  <cp:revision>2</cp:revision>
  <dcterms:modified xsi:type="dcterms:W3CDTF">2025-11-17T10:27:01Z</dcterms:modified>
</cp:coreProperties>
</file>